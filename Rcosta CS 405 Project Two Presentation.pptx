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hyperlink" Target="https://owasp.org/Top10/2021/" TargetMode="External"/><Relationship Id="rId3" Type="http://schemas.openxmlformats.org/officeDocument/2006/relationships/notesSlide" Target="../notesSlides/notesSlide14.xml"/><Relationship Id="rId7" Type="http://schemas.openxmlformats.org/officeDocument/2006/relationships/hyperlink" Target="https://learn.microsoft.com/en-us/visualstudio/test/unit-test-your-code"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www.cisa.gov/topics/cybersecurity-best-practices/executive-order-improving-nations-cybersecurity" TargetMode="External"/><Relationship Id="rId5" Type="http://schemas.openxmlformats.org/officeDocument/2006/relationships/hyperlink" Target="https://owaspsamm.org/model/" TargetMode="External"/><Relationship Id="rId4" Type="http://schemas.openxmlformats.org/officeDocument/2006/relationships/hyperlink" Target="https://csrc.nist.gov/pubs/sp/800/218/final"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Raymond Costa</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886968" y="1736901"/>
            <a:ext cx="9518904" cy="4024125"/>
          </a:xfrm>
          <a:prstGeom prst="rect">
            <a:avLst/>
          </a:prstGeom>
          <a:noFill/>
          <a:ln>
            <a:noFill/>
          </a:ln>
        </p:spPr>
        <p:txBody>
          <a:bodyPr spcFirstLastPara="1" wrap="square" lIns="91425" tIns="45700" rIns="91425" bIns="45700" anchor="t" anchorCtr="0">
            <a:normAutofit/>
          </a:bodyPr>
          <a:lstStyle/>
          <a:p>
            <a:pPr marL="1028700">
              <a:spcBef>
                <a:spcPts val="0"/>
              </a:spcBef>
            </a:pPr>
            <a:r>
              <a:rPr lang="en-US" dirty="0"/>
              <a:t>Standardizes secure coding practices across Green Pace</a:t>
            </a:r>
          </a:p>
          <a:p>
            <a:pPr marL="1028700">
              <a:spcBef>
                <a:spcPts val="0"/>
              </a:spcBef>
            </a:pPr>
            <a:r>
              <a:rPr lang="en-US" dirty="0"/>
              <a:t>Needed to reduce attack surface as team grows</a:t>
            </a:r>
          </a:p>
          <a:p>
            <a:pPr marL="1028700">
              <a:spcBef>
                <a:spcPts val="0"/>
              </a:spcBef>
            </a:pPr>
            <a:r>
              <a:rPr lang="en-US" dirty="0"/>
              <a:t>Supports defense-in-depth by embedding security at every layer</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869371" y="2902002"/>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73153" y="2194550"/>
            <a:ext cx="3575302" cy="4024200"/>
          </a:xfrm>
          <a:prstGeom prst="rect">
            <a:avLst/>
          </a:prstGeom>
          <a:noFill/>
          <a:ln>
            <a:noFill/>
          </a:ln>
        </p:spPr>
        <p:txBody>
          <a:bodyPr spcFirstLastPara="1" wrap="square" lIns="91425" tIns="45700" rIns="91425" bIns="45700" anchor="t" anchorCtr="0">
            <a:normAutofit/>
          </a:bodyPr>
          <a:lstStyle/>
          <a:p>
            <a:pPr marL="571500">
              <a:lnSpc>
                <a:spcPct val="107916"/>
              </a:lnSpc>
              <a:spcBef>
                <a:spcPts val="0"/>
              </a:spcBef>
            </a:pPr>
            <a:r>
              <a:rPr lang="en-US" sz="2000" dirty="0">
                <a:solidFill>
                  <a:srgbClr val="FFFFFF"/>
                </a:solidFill>
              </a:rPr>
              <a:t>10 coding standards mapped to severity &amp; likelihood</a:t>
            </a:r>
          </a:p>
          <a:p>
            <a:pPr marL="571500">
              <a:lnSpc>
                <a:spcPct val="107916"/>
              </a:lnSpc>
              <a:spcBef>
                <a:spcPts val="0"/>
              </a:spcBef>
            </a:pPr>
            <a:r>
              <a:rPr lang="en-US" sz="2000" dirty="0">
                <a:solidFill>
                  <a:srgbClr val="FFFFFF"/>
                </a:solidFill>
              </a:rPr>
              <a:t>Automation detects vulnerabilities: static analysis, unit tests, CI/CD tools</a:t>
            </a:r>
          </a:p>
          <a:p>
            <a:pPr marL="571500">
              <a:lnSpc>
                <a:spcPct val="107916"/>
              </a:lnSpc>
              <a:spcBef>
                <a:spcPts val="0"/>
              </a:spcBef>
            </a:pPr>
            <a:r>
              <a:rPr lang="en-US" sz="2000" dirty="0">
                <a:solidFill>
                  <a:srgbClr val="FFFFFF"/>
                </a:solidFill>
              </a:rPr>
              <a:t>Summarizes risks and prioritization</a:t>
            </a:r>
            <a:endParaRPr lang="en-US" dirty="0"/>
          </a:p>
        </p:txBody>
      </p:sp>
      <p:graphicFrame>
        <p:nvGraphicFramePr>
          <p:cNvPr id="161" name="Google Shape;161;p4" descr="Alt text required"/>
          <p:cNvGraphicFramePr/>
          <p:nvPr>
            <p:extLst>
              <p:ext uri="{D42A27DB-BD31-4B8C-83A1-F6EECF244321}">
                <p14:modId xmlns:p14="http://schemas.microsoft.com/office/powerpoint/2010/main" val="3011578589"/>
              </p:ext>
            </p:extLst>
          </p:nvPr>
        </p:nvGraphicFramePr>
        <p:xfrm>
          <a:off x="3785616" y="2009492"/>
          <a:ext cx="7161297" cy="4585763"/>
        </p:xfrm>
        <a:graphic>
          <a:graphicData uri="http://schemas.openxmlformats.org/drawingml/2006/table">
            <a:tbl>
              <a:tblPr firstRow="1" firstCol="1">
                <a:noFill/>
                <a:tableStyleId>{802198C4-3087-4945-87E3-76CBB3509B7E}</a:tableStyleId>
              </a:tblPr>
              <a:tblGrid>
                <a:gridCol w="3683758">
                  <a:extLst>
                    <a:ext uri="{9D8B030D-6E8A-4147-A177-3AD203B41FA5}">
                      <a16:colId xmlns:a16="http://schemas.microsoft.com/office/drawing/2014/main" val="20000"/>
                    </a:ext>
                  </a:extLst>
                </a:gridCol>
                <a:gridCol w="3477539">
                  <a:extLst>
                    <a:ext uri="{9D8B030D-6E8A-4147-A177-3AD203B41FA5}">
                      <a16:colId xmlns:a16="http://schemas.microsoft.com/office/drawing/2014/main" val="20001"/>
                    </a:ext>
                  </a:extLst>
                </a:gridCol>
              </a:tblGrid>
              <a:tr h="2507644">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Input validation flaws (STD-001-CPP)</a:t>
                      </a:r>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Hardcoded credentials (STD-002-CPP)</a:t>
                      </a:r>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Unchecked user input (STD-003-CPP)</a:t>
                      </a:r>
                      <a:endParaRPr sz="20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Weak permission logic (STD-004-CPP)</a:t>
                      </a:r>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Missing exception handling (STD-005-CPP)</a:t>
                      </a:r>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Insecure global state (STD-006-CPP)</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025473">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Iterator misuse (STD-007-CPP)</a:t>
                      </a:r>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Redundant memory allocation (STD-008-CPP)</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Legacy buffer overflow (STD-009-CPP)</a:t>
                      </a:r>
                    </a:p>
                    <a:p>
                      <a:pPr marL="0" marR="0" lvl="0" indent="0" algn="l"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Unused debug code (STD-010-CPP)</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lt1"/>
              </a:buClr>
              <a:buSzPts val="2200"/>
              <a:buChar char="•"/>
            </a:pPr>
            <a:r>
              <a:rPr lang="en-US" b="1" dirty="0"/>
              <a:t>Input Validation: </a:t>
            </a:r>
            <a:r>
              <a:rPr lang="en-US" dirty="0"/>
              <a:t>STD-001-CPP, STD-003-CPP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Least Privilege: </a:t>
            </a:r>
            <a:r>
              <a:rPr lang="en-US" dirty="0"/>
              <a:t>STD-004-CPP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Secure Defaults: </a:t>
            </a:r>
            <a:r>
              <a:rPr lang="en-US" dirty="0"/>
              <a:t>STD-005-CPP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Defense in Depth: </a:t>
            </a:r>
            <a:r>
              <a:rPr lang="en-US" dirty="0"/>
              <a:t>STD-006-CPP, STD-009-CPP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Fail Securely: </a:t>
            </a:r>
            <a:r>
              <a:rPr lang="en-US" dirty="0"/>
              <a:t>STD-005-CPP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Separation of Duties: </a:t>
            </a:r>
            <a:r>
              <a:rPr lang="en-US" dirty="0"/>
              <a:t>STD-004-CPP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Minimize Attack Surface: </a:t>
            </a:r>
            <a:r>
              <a:rPr lang="en-US" dirty="0"/>
              <a:t>STD-002-CPP, STD-010-CPP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Complete Mediation: </a:t>
            </a:r>
            <a:r>
              <a:rPr lang="en-US" dirty="0"/>
              <a:t>STD-004-CPP</a:t>
            </a:r>
          </a:p>
          <a:p>
            <a:pPr marL="0" lvl="0" indent="0" algn="l" rtl="0">
              <a:lnSpc>
                <a:spcPct val="90000"/>
              </a:lnSpc>
              <a:spcBef>
                <a:spcPts val="0"/>
              </a:spcBef>
              <a:spcAft>
                <a:spcPts val="0"/>
              </a:spcAft>
              <a:buClr>
                <a:schemeClr val="lt1"/>
              </a:buClr>
              <a:buSzPts val="2200"/>
              <a:buNone/>
            </a:pPr>
            <a:endParaRPr lang="en-US" dirty="0"/>
          </a:p>
          <a:p>
            <a:pPr marL="228600" lvl="0" indent="-228600" algn="l" rtl="0">
              <a:lnSpc>
                <a:spcPct val="90000"/>
              </a:lnSpc>
              <a:spcBef>
                <a:spcPts val="0"/>
              </a:spcBef>
              <a:spcAft>
                <a:spcPts val="0"/>
              </a:spcAft>
              <a:buClr>
                <a:schemeClr val="lt1"/>
              </a:buClr>
              <a:buSzPts val="2200"/>
              <a:buChar char="•"/>
            </a:pPr>
            <a:r>
              <a:rPr lang="en-US" b="1" dirty="0"/>
              <a:t>Open Design: </a:t>
            </a:r>
            <a:r>
              <a:rPr lang="en-US" dirty="0"/>
              <a:t>STD-007-CPP</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r>
              <a:rPr lang="en-US" b="1" dirty="0"/>
              <a:t>Security Through Automation: </a:t>
            </a:r>
            <a:r>
              <a:rPr lang="en-US" dirty="0"/>
              <a:t>STD-001-CPP, STD-008-CPP</a:t>
            </a:r>
            <a:r>
              <a:rPr lang="en-US" dirty="0">
                <a:solidFill>
                  <a:srgbClr val="FFFFFF"/>
                </a:solidFill>
              </a:rPr>
              <a:t>.</a:t>
            </a: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numCol="2" anchor="t" anchorCtr="0">
            <a:normAutofit/>
          </a:bodyPr>
          <a:lstStyle/>
          <a:p>
            <a:pPr marL="0" lvl="0" indent="0" algn="l" rtl="0">
              <a:lnSpc>
                <a:spcPct val="90000"/>
              </a:lnSpc>
              <a:spcBef>
                <a:spcPts val="0"/>
              </a:spcBef>
              <a:spcAft>
                <a:spcPts val="0"/>
              </a:spcAft>
              <a:buClr>
                <a:schemeClr val="lt1"/>
              </a:buClr>
              <a:buSzPts val="2000"/>
              <a:buNone/>
            </a:pPr>
            <a:r>
              <a:rPr lang="en-US" sz="2000" b="1" dirty="0"/>
              <a:t>Coding Standards (STD-001 to STD-010):</a:t>
            </a:r>
          </a:p>
          <a:p>
            <a:pPr marL="0" lvl="0" indent="0" algn="l" rtl="0">
              <a:lnSpc>
                <a:spcPct val="90000"/>
              </a:lnSpc>
              <a:spcBef>
                <a:spcPts val="0"/>
              </a:spcBef>
              <a:spcAft>
                <a:spcPts val="0"/>
              </a:spcAft>
              <a:buClr>
                <a:schemeClr val="lt1"/>
              </a:buClr>
              <a:buSzPts val="2000"/>
              <a:buNone/>
            </a:pPr>
            <a:endParaRPr lang="en-US" sz="1800" dirty="0"/>
          </a:p>
          <a:p>
            <a:pPr marL="742950" lvl="1" indent="-285750">
              <a:spcBef>
                <a:spcPts val="0"/>
              </a:spcBef>
              <a:buSzPts val="2000"/>
            </a:pPr>
            <a:r>
              <a:rPr lang="en-US" b="1" dirty="0"/>
              <a:t>STD-001-CPP:</a:t>
            </a:r>
            <a:r>
              <a:rPr lang="en-US" dirty="0"/>
              <a:t> Input validation</a:t>
            </a:r>
          </a:p>
          <a:p>
            <a:pPr marL="742950" lvl="1" indent="-285750">
              <a:spcBef>
                <a:spcPts val="0"/>
              </a:spcBef>
              <a:buSzPts val="2000"/>
            </a:pPr>
            <a:r>
              <a:rPr lang="en-US" b="1" dirty="0"/>
              <a:t>STD-002-CPP:</a:t>
            </a:r>
            <a:r>
              <a:rPr lang="en-US" dirty="0"/>
              <a:t> Hardcoded credentials</a:t>
            </a:r>
          </a:p>
          <a:p>
            <a:pPr marL="742950" lvl="1" indent="-285750">
              <a:spcBef>
                <a:spcPts val="0"/>
              </a:spcBef>
              <a:buSzPts val="2000"/>
            </a:pPr>
            <a:r>
              <a:rPr lang="en-US" b="1" dirty="0"/>
              <a:t>STD-003-CPP:</a:t>
            </a:r>
            <a:r>
              <a:rPr lang="en-US" dirty="0"/>
              <a:t> Unchecked user input</a:t>
            </a:r>
          </a:p>
          <a:p>
            <a:pPr marL="742950" lvl="1" indent="-285750">
              <a:spcBef>
                <a:spcPts val="0"/>
              </a:spcBef>
              <a:buSzPts val="2000"/>
            </a:pPr>
            <a:r>
              <a:rPr lang="en-US" b="1" dirty="0"/>
              <a:t>STD-004-CPP:</a:t>
            </a:r>
            <a:r>
              <a:rPr lang="en-US" dirty="0"/>
              <a:t> Permission logic</a:t>
            </a:r>
          </a:p>
          <a:p>
            <a:pPr marL="742950" lvl="1" indent="-285750">
              <a:spcBef>
                <a:spcPts val="0"/>
              </a:spcBef>
              <a:buSzPts val="2000"/>
            </a:pPr>
            <a:r>
              <a:rPr lang="en-US" b="1" dirty="0"/>
              <a:t>STD-005-CPP:</a:t>
            </a:r>
            <a:r>
              <a:rPr lang="en-US" dirty="0"/>
              <a:t> Exception handling</a:t>
            </a:r>
          </a:p>
          <a:p>
            <a:pPr marL="742950" lvl="1" indent="-285750">
              <a:spcBef>
                <a:spcPts val="0"/>
              </a:spcBef>
              <a:buSzPts val="2000"/>
            </a:pPr>
            <a:r>
              <a:rPr lang="en-US" b="1" dirty="0"/>
              <a:t>STD-006-CPP:</a:t>
            </a:r>
            <a:r>
              <a:rPr lang="en-US" dirty="0"/>
              <a:t> Global state control</a:t>
            </a:r>
          </a:p>
          <a:p>
            <a:pPr marL="742950" lvl="1" indent="-285750">
              <a:spcBef>
                <a:spcPts val="0"/>
              </a:spcBef>
              <a:buSzPts val="2000"/>
            </a:pPr>
            <a:r>
              <a:rPr lang="en-US" b="1" dirty="0"/>
              <a:t>STD-007-CPP:</a:t>
            </a:r>
            <a:r>
              <a:rPr lang="en-US" dirty="0"/>
              <a:t> Iterator misuse</a:t>
            </a:r>
          </a:p>
          <a:p>
            <a:pPr marL="742950" lvl="1" indent="-285750">
              <a:spcBef>
                <a:spcPts val="0"/>
              </a:spcBef>
              <a:buSzPts val="2000"/>
            </a:pPr>
            <a:r>
              <a:rPr lang="en-US" b="1" dirty="0"/>
              <a:t>STD-008-CPP:</a:t>
            </a:r>
            <a:r>
              <a:rPr lang="en-US" dirty="0"/>
              <a:t> Redundant memory allocation</a:t>
            </a:r>
          </a:p>
          <a:p>
            <a:pPr marL="742950" lvl="1" indent="-285750">
              <a:spcBef>
                <a:spcPts val="0"/>
              </a:spcBef>
              <a:buSzPts val="2000"/>
            </a:pPr>
            <a:r>
              <a:rPr lang="en-US" b="1" dirty="0"/>
              <a:t>STD-009-CPP:</a:t>
            </a:r>
            <a:r>
              <a:rPr lang="en-US" dirty="0"/>
              <a:t> Legacy buffer overflow</a:t>
            </a:r>
          </a:p>
          <a:p>
            <a:pPr marL="742950" lvl="1" indent="-285750">
              <a:spcBef>
                <a:spcPts val="0"/>
              </a:spcBef>
              <a:buSzPts val="2000"/>
            </a:pPr>
            <a:r>
              <a:rPr lang="en-US" b="1" dirty="0"/>
              <a:t>STD-010-CPP:</a:t>
            </a:r>
            <a:r>
              <a:rPr lang="en-US" dirty="0"/>
              <a:t> Unused debug code</a:t>
            </a:r>
          </a:p>
          <a:p>
            <a:pPr marL="742950" lvl="1" indent="-285750">
              <a:spcBef>
                <a:spcPts val="0"/>
              </a:spcBef>
              <a:buSzPts val="2000"/>
            </a:pPr>
            <a:endParaRPr lang="en-US" sz="1800" dirty="0"/>
          </a:p>
          <a:p>
            <a:pPr marL="0" indent="0">
              <a:spcBef>
                <a:spcPts val="0"/>
              </a:spcBef>
              <a:buSzPts val="2000"/>
              <a:buNone/>
            </a:pPr>
            <a:r>
              <a:rPr lang="en-US" sz="2000" b="1" dirty="0"/>
              <a:t>Prioritization System:</a:t>
            </a:r>
          </a:p>
          <a:p>
            <a:pPr marL="0" indent="0">
              <a:spcBef>
                <a:spcPts val="0"/>
              </a:spcBef>
              <a:buSzPts val="2000"/>
              <a:buNone/>
            </a:pPr>
            <a:endParaRPr lang="en-US" sz="2000" dirty="0"/>
          </a:p>
          <a:p>
            <a:pPr marL="742950" lvl="1" indent="-285750">
              <a:spcBef>
                <a:spcPts val="0"/>
              </a:spcBef>
              <a:buSzPts val="2000"/>
            </a:pPr>
            <a:r>
              <a:rPr lang="en-US" dirty="0"/>
              <a:t>Based on severity, likelihood, and remediation cost</a:t>
            </a:r>
          </a:p>
          <a:p>
            <a:pPr marL="742950" lvl="1" indent="-285750">
              <a:spcBef>
                <a:spcPts val="0"/>
              </a:spcBef>
              <a:buSzPts val="2000"/>
            </a:pPr>
            <a:r>
              <a:rPr lang="en-US" dirty="0"/>
              <a:t>High-risk vulnerabilities ranked first</a:t>
            </a:r>
          </a:p>
          <a:p>
            <a:pPr marL="742950" lvl="1" indent="-285750">
              <a:spcBef>
                <a:spcPts val="0"/>
              </a:spcBef>
              <a:buSzPts val="2000"/>
            </a:pPr>
            <a:r>
              <a:rPr lang="en-US" dirty="0"/>
              <a:t>Lower-impact issues addressed later</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400" b="1" dirty="0"/>
              <a:t>Encryption Policies:</a:t>
            </a:r>
            <a:endParaRPr lang="en-US" sz="2400" dirty="0"/>
          </a:p>
          <a:p>
            <a:r>
              <a:rPr lang="en-US" sz="2400" b="1" dirty="0"/>
              <a:t>In Flight:</a:t>
            </a:r>
            <a:r>
              <a:rPr lang="en-US" sz="2400" dirty="0"/>
              <a:t> TLS 1.3 for all data transmission</a:t>
            </a:r>
          </a:p>
          <a:p>
            <a:r>
              <a:rPr lang="en-US" sz="2400" b="1" dirty="0"/>
              <a:t>At Rest:</a:t>
            </a:r>
            <a:r>
              <a:rPr lang="en-US" sz="2400" dirty="0"/>
              <a:t> AES-256 encryption for databases and file systems</a:t>
            </a:r>
          </a:p>
          <a:p>
            <a:r>
              <a:rPr lang="en-US" sz="2400" b="1" dirty="0"/>
              <a:t>In Use:</a:t>
            </a:r>
            <a:r>
              <a:rPr lang="en-US" sz="2400" dirty="0"/>
              <a:t> Role-based access controls and memory protection</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400" b="1" dirty="0"/>
              <a:t>Triple-A Policies:</a:t>
            </a:r>
            <a:endParaRPr lang="en-US" sz="2400" dirty="0"/>
          </a:p>
          <a:p>
            <a:r>
              <a:rPr lang="en-US" sz="2400" b="1" dirty="0"/>
              <a:t>Authentication:</a:t>
            </a:r>
            <a:r>
              <a:rPr lang="en-US" sz="2400" dirty="0"/>
              <a:t> Password complexity, MFA, biometric support</a:t>
            </a:r>
          </a:p>
          <a:p>
            <a:r>
              <a:rPr lang="en-US" sz="2400" b="1" dirty="0"/>
              <a:t>Authorization:</a:t>
            </a:r>
            <a:r>
              <a:rPr lang="en-US" sz="2400" dirty="0"/>
              <a:t> Role-based access control (RBAC), least privilege enforcement</a:t>
            </a:r>
          </a:p>
          <a:p>
            <a:r>
              <a:rPr lang="en-US" sz="2400" b="1" dirty="0"/>
              <a:t>Accounting:</a:t>
            </a:r>
            <a:r>
              <a:rPr lang="en-US" sz="2400" dirty="0"/>
              <a:t> Audit logs, session tracking, access history</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114300" indent="0">
              <a:buNone/>
            </a:pPr>
            <a:r>
              <a:rPr lang="en-US" sz="2400" b="1" dirty="0"/>
              <a:t>Unit Testing Strategy:</a:t>
            </a:r>
            <a:endParaRPr lang="en-US" sz="2400" dirty="0"/>
          </a:p>
          <a:p>
            <a:r>
              <a:rPr lang="en-US" sz="2400" b="1" dirty="0"/>
              <a:t>Vulnerability tested: </a:t>
            </a:r>
            <a:r>
              <a:rPr lang="en-US" sz="2400" dirty="0"/>
              <a:t>Input validation (STD-001-CPP)</a:t>
            </a:r>
          </a:p>
          <a:p>
            <a:r>
              <a:rPr lang="en-US" sz="2400" b="1" dirty="0"/>
              <a:t>Framework: </a:t>
            </a:r>
            <a:r>
              <a:rPr lang="en-US" sz="2400" dirty="0"/>
              <a:t>Visual Studio C++ Unit Testing</a:t>
            </a:r>
          </a:p>
          <a:p>
            <a:r>
              <a:rPr lang="en-US" sz="2400" b="1" dirty="0"/>
              <a:t>Tests: </a:t>
            </a:r>
            <a:r>
              <a:rPr lang="en-US" sz="2400" dirty="0"/>
              <a:t>3 positive inputs, 3 negative inputs</a:t>
            </a:r>
          </a:p>
          <a:p>
            <a:r>
              <a:rPr lang="en-US" sz="2400" b="1" dirty="0"/>
              <a:t>Goal: </a:t>
            </a:r>
            <a:r>
              <a:rPr lang="en-US" sz="2400" dirty="0"/>
              <a:t>Catch out-of-range and invalid values before they reach production</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4389120" y="2566231"/>
            <a:ext cx="6694954" cy="3387185"/>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0A51F8FA-F466-D454-C113-EC76393E0582}"/>
              </a:ext>
            </a:extLst>
          </p:cNvPr>
          <p:cNvSpPr txBox="1"/>
          <p:nvPr/>
        </p:nvSpPr>
        <p:spPr>
          <a:xfrm>
            <a:off x="109728" y="1937931"/>
            <a:ext cx="4279392" cy="4524315"/>
          </a:xfrm>
          <a:prstGeom prst="rect">
            <a:avLst/>
          </a:prstGeom>
          <a:noFill/>
        </p:spPr>
        <p:txBody>
          <a:bodyPr wrap="square" rtlCol="0">
            <a:spAutoFit/>
          </a:bodyPr>
          <a:lstStyle/>
          <a:p>
            <a:pPr>
              <a:buNone/>
            </a:pPr>
            <a:r>
              <a:rPr lang="en-US" sz="1800" b="1" dirty="0">
                <a:solidFill>
                  <a:schemeClr val="bg1"/>
                </a:solidFill>
                <a:latin typeface="Century Gothic" panose="020B0502020202020204" pitchFamily="34" charset="0"/>
              </a:rPr>
              <a:t>Security Automation in </a:t>
            </a:r>
            <a:r>
              <a:rPr lang="en-US" sz="1800" b="1" dirty="0" err="1">
                <a:solidFill>
                  <a:schemeClr val="bg1"/>
                </a:solidFill>
                <a:latin typeface="Century Gothic" panose="020B0502020202020204" pitchFamily="34" charset="0"/>
              </a:rPr>
              <a:t>DevSecOps</a:t>
            </a:r>
            <a:r>
              <a:rPr lang="en-US" sz="1800" b="1" dirty="0">
                <a:solidFill>
                  <a:schemeClr val="bg1"/>
                </a:solidFill>
                <a:latin typeface="Century Gothic" panose="020B0502020202020204" pitchFamily="34" charset="0"/>
              </a:rPr>
              <a:t>:</a:t>
            </a:r>
          </a:p>
          <a:p>
            <a:pPr>
              <a:buNone/>
            </a:pPr>
            <a:endParaRPr lang="en-US" sz="1800" dirty="0">
              <a:solidFill>
                <a:schemeClr val="bg1"/>
              </a:solidFill>
              <a:latin typeface="Century Gothic" panose="020B0502020202020204" pitchFamily="34" charset="0"/>
            </a:endParaRPr>
          </a:p>
          <a:p>
            <a:pPr marL="285750" indent="-285750">
              <a:buClr>
                <a:schemeClr val="bg1"/>
              </a:buClr>
              <a:buFont typeface="Arial" panose="020B0604020202020204" pitchFamily="34" charset="0"/>
              <a:buChar char="•"/>
            </a:pPr>
            <a:r>
              <a:rPr lang="en-US" sz="1800" b="1" dirty="0">
                <a:solidFill>
                  <a:schemeClr val="bg1"/>
                </a:solidFill>
                <a:latin typeface="Century Gothic" panose="020B0502020202020204" pitchFamily="34" charset="0"/>
              </a:rPr>
              <a:t>Assess &amp; Plan:</a:t>
            </a:r>
            <a:r>
              <a:rPr lang="en-US" sz="1800" dirty="0">
                <a:solidFill>
                  <a:schemeClr val="bg1"/>
                </a:solidFill>
                <a:latin typeface="Century Gothic" panose="020B0502020202020204" pitchFamily="34" charset="0"/>
              </a:rPr>
              <a:t> Threat modeling, backlog prioritization</a:t>
            </a:r>
          </a:p>
          <a:p>
            <a:pPr marL="285750" indent="-285750">
              <a:buFont typeface="Arial" panose="020B0604020202020204" pitchFamily="34" charset="0"/>
              <a:buChar char="•"/>
            </a:pPr>
            <a:endParaRPr lang="en-US" sz="1800" dirty="0">
              <a:solidFill>
                <a:schemeClr val="bg1"/>
              </a:solidFill>
              <a:latin typeface="Century Gothic" panose="020B0502020202020204" pitchFamily="34" charset="0"/>
            </a:endParaRPr>
          </a:p>
          <a:p>
            <a:pPr marL="285750" indent="-285750">
              <a:buClr>
                <a:schemeClr val="bg1"/>
              </a:buClr>
              <a:buFont typeface="Arial" panose="020B0604020202020204" pitchFamily="34" charset="0"/>
              <a:buChar char="•"/>
            </a:pPr>
            <a:r>
              <a:rPr lang="en-US" sz="1800" b="1" dirty="0">
                <a:solidFill>
                  <a:schemeClr val="bg1"/>
                </a:solidFill>
                <a:latin typeface="Century Gothic" panose="020B0502020202020204" pitchFamily="34" charset="0"/>
              </a:rPr>
              <a:t>Design:</a:t>
            </a:r>
            <a:r>
              <a:rPr lang="en-US" sz="1800" dirty="0">
                <a:solidFill>
                  <a:schemeClr val="bg1"/>
                </a:solidFill>
                <a:latin typeface="Century Gothic" panose="020B0502020202020204" pitchFamily="34" charset="0"/>
              </a:rPr>
              <a:t> OWASP checklists, SEI CERT rules</a:t>
            </a:r>
          </a:p>
          <a:p>
            <a:pPr marL="285750" indent="-285750">
              <a:buClr>
                <a:schemeClr val="bg1"/>
              </a:buClr>
              <a:buFont typeface="Arial" panose="020B0604020202020204" pitchFamily="34" charset="0"/>
              <a:buChar char="•"/>
            </a:pPr>
            <a:endParaRPr lang="en-US" sz="1800" dirty="0">
              <a:solidFill>
                <a:schemeClr val="bg1"/>
              </a:solidFill>
              <a:latin typeface="Century Gothic" panose="020B0502020202020204" pitchFamily="34" charset="0"/>
            </a:endParaRPr>
          </a:p>
          <a:p>
            <a:pPr marL="285750" indent="-285750">
              <a:buClr>
                <a:schemeClr val="bg1"/>
              </a:buClr>
              <a:buFont typeface="Arial" panose="020B0604020202020204" pitchFamily="34" charset="0"/>
              <a:buChar char="•"/>
            </a:pPr>
            <a:r>
              <a:rPr lang="en-US" sz="1800" b="1" dirty="0">
                <a:solidFill>
                  <a:schemeClr val="bg1"/>
                </a:solidFill>
                <a:latin typeface="Century Gothic" panose="020B0502020202020204" pitchFamily="34" charset="0"/>
              </a:rPr>
              <a:t>Build:</a:t>
            </a:r>
            <a:r>
              <a:rPr lang="en-US" sz="1800" dirty="0">
                <a:solidFill>
                  <a:schemeClr val="bg1"/>
                </a:solidFill>
                <a:latin typeface="Century Gothic" panose="020B0502020202020204" pitchFamily="34" charset="0"/>
              </a:rPr>
              <a:t> Compiler enforces standards, dependency scanning</a:t>
            </a:r>
          </a:p>
          <a:p>
            <a:pPr marL="285750" indent="-285750">
              <a:buClr>
                <a:schemeClr val="bg1"/>
              </a:buClr>
              <a:buFont typeface="Arial" panose="020B0604020202020204" pitchFamily="34" charset="0"/>
              <a:buChar char="•"/>
            </a:pPr>
            <a:endParaRPr lang="en-US" sz="1800" dirty="0">
              <a:solidFill>
                <a:schemeClr val="bg1"/>
              </a:solidFill>
              <a:latin typeface="Century Gothic" panose="020B0502020202020204" pitchFamily="34" charset="0"/>
            </a:endParaRPr>
          </a:p>
          <a:p>
            <a:pPr marL="285750" indent="-285750">
              <a:buClr>
                <a:schemeClr val="bg1"/>
              </a:buClr>
              <a:buFont typeface="Arial" panose="020B0604020202020204" pitchFamily="34" charset="0"/>
              <a:buChar char="•"/>
            </a:pPr>
            <a:r>
              <a:rPr lang="en-US" sz="1800" b="1" dirty="0">
                <a:solidFill>
                  <a:schemeClr val="bg1"/>
                </a:solidFill>
                <a:latin typeface="Century Gothic" panose="020B0502020202020204" pitchFamily="34" charset="0"/>
              </a:rPr>
              <a:t>Verify &amp; Test:</a:t>
            </a:r>
            <a:r>
              <a:rPr lang="en-US" sz="1800" dirty="0">
                <a:solidFill>
                  <a:schemeClr val="bg1"/>
                </a:solidFill>
                <a:latin typeface="Century Gothic" panose="020B0502020202020204" pitchFamily="34" charset="0"/>
              </a:rPr>
              <a:t> SAST, DAST, unit tests, CI/CD integration</a:t>
            </a:r>
          </a:p>
          <a:p>
            <a:pPr marL="285750" indent="-285750">
              <a:buClr>
                <a:schemeClr val="bg1"/>
              </a:buClr>
              <a:buFont typeface="Arial" panose="020B0604020202020204" pitchFamily="34" charset="0"/>
              <a:buChar char="•"/>
            </a:pPr>
            <a:endParaRPr lang="en-US" sz="1800" dirty="0">
              <a:solidFill>
                <a:schemeClr val="bg1"/>
              </a:solidFill>
              <a:latin typeface="Century Gothic" panose="020B0502020202020204" pitchFamily="34" charset="0"/>
            </a:endParaRPr>
          </a:p>
          <a:p>
            <a:pPr marL="285750" indent="-285750">
              <a:buClr>
                <a:schemeClr val="bg1"/>
              </a:buClr>
              <a:buFont typeface="Arial" panose="020B0604020202020204" pitchFamily="34" charset="0"/>
              <a:buChar char="•"/>
            </a:pPr>
            <a:r>
              <a:rPr lang="en-US" sz="1800" b="1" dirty="0">
                <a:solidFill>
                  <a:schemeClr val="bg1"/>
                </a:solidFill>
                <a:latin typeface="Century Gothic" panose="020B0502020202020204" pitchFamily="34" charset="0"/>
              </a:rPr>
              <a:t>Release &amp; Monitor:</a:t>
            </a:r>
            <a:r>
              <a:rPr lang="en-US" sz="1800" dirty="0">
                <a:solidFill>
                  <a:schemeClr val="bg1"/>
                </a:solidFill>
                <a:latin typeface="Century Gothic" panose="020B0502020202020204" pitchFamily="34" charset="0"/>
              </a:rPr>
              <a:t> SIEM, intrusion detection, rollback automation</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400" b="1" dirty="0" err="1"/>
              <a:t>DevSecOps</a:t>
            </a:r>
            <a:r>
              <a:rPr lang="en-US" sz="2400" b="1" dirty="0"/>
              <a:t> Pipeline Tools:</a:t>
            </a:r>
            <a:endParaRPr lang="en-US" sz="2400" dirty="0"/>
          </a:p>
          <a:p>
            <a:r>
              <a:rPr lang="en-US" sz="2400" b="1" dirty="0"/>
              <a:t>Design:</a:t>
            </a:r>
            <a:r>
              <a:rPr lang="en-US" sz="2400" dirty="0"/>
              <a:t> OWASP, SEI CERT, threat modeling</a:t>
            </a:r>
          </a:p>
          <a:p>
            <a:r>
              <a:rPr lang="en-US" sz="2400" b="1" dirty="0"/>
              <a:t>Build:</a:t>
            </a:r>
            <a:r>
              <a:rPr lang="en-US" sz="2400" dirty="0"/>
              <a:t> Visual Studio compiler, dependency scanners</a:t>
            </a:r>
          </a:p>
          <a:p>
            <a:r>
              <a:rPr lang="en-US" sz="2400" b="1" dirty="0"/>
              <a:t>Test:</a:t>
            </a:r>
            <a:r>
              <a:rPr lang="en-US" sz="2400" dirty="0"/>
              <a:t> Unit tests, static analysis (SAST), CI/CD integration</a:t>
            </a:r>
          </a:p>
          <a:p>
            <a:r>
              <a:rPr lang="en-US" sz="2400" b="1" dirty="0"/>
              <a:t>Deploy &amp; Monitor:</a:t>
            </a:r>
            <a:r>
              <a:rPr lang="en-US" sz="2400" dirty="0"/>
              <a:t> SIEM, IDS/IPS, rollback automation</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400" b="1" dirty="0"/>
              <a:t>Risks and Benefits:</a:t>
            </a:r>
            <a:endParaRPr lang="en-US" sz="2400" dirty="0"/>
          </a:p>
          <a:p>
            <a:r>
              <a:rPr lang="en-US" sz="2400" b="1" dirty="0"/>
              <a:t>Problem:</a:t>
            </a:r>
            <a:r>
              <a:rPr lang="en-US" sz="2400" dirty="0"/>
              <a:t> Inconsistent security practices across developers</a:t>
            </a:r>
          </a:p>
          <a:p>
            <a:r>
              <a:rPr lang="en-US" sz="2400" b="1" dirty="0"/>
              <a:t>Solution:</a:t>
            </a:r>
            <a:r>
              <a:rPr lang="en-US" sz="2400" dirty="0"/>
              <a:t> Standardized coding policy + automation tools</a:t>
            </a:r>
          </a:p>
          <a:p>
            <a:r>
              <a:rPr lang="en-US" sz="2400" b="1" dirty="0"/>
              <a:t>Act Now:</a:t>
            </a:r>
            <a:r>
              <a:rPr lang="en-US" sz="2400" dirty="0"/>
              <a:t> Reduces attack surface, improves audit readiness</a:t>
            </a:r>
          </a:p>
          <a:p>
            <a:r>
              <a:rPr lang="en-US" sz="2400" b="1" dirty="0"/>
              <a:t>Wait:</a:t>
            </a:r>
            <a:r>
              <a:rPr lang="en-US" sz="2400" dirty="0"/>
              <a:t> Delays detection, increases breach risk</a:t>
            </a:r>
          </a:p>
          <a:p>
            <a:r>
              <a:rPr lang="en-US" sz="2400" b="1" dirty="0"/>
              <a:t>Next Steps:</a:t>
            </a:r>
            <a:r>
              <a:rPr lang="en-US" sz="2400" dirty="0"/>
              <a:t> Expand testing, enforce CI/CD integration</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400" b="1" dirty="0"/>
              <a:t>Next Steps &amp; Standards:</a:t>
            </a:r>
            <a:endParaRPr lang="en-US" sz="2400" dirty="0"/>
          </a:p>
          <a:p>
            <a:r>
              <a:rPr lang="en-US" sz="2400" dirty="0"/>
              <a:t>Expand automation across all environments</a:t>
            </a:r>
          </a:p>
          <a:p>
            <a:r>
              <a:rPr lang="en-US" sz="2400" dirty="0"/>
              <a:t>Adopt NIST SSDF and OWASP SAMM</a:t>
            </a:r>
          </a:p>
          <a:p>
            <a:r>
              <a:rPr lang="en-US" sz="2400" dirty="0"/>
              <a:t>Monitor policy effectiveness via audit and feedback</a:t>
            </a:r>
          </a:p>
          <a:p>
            <a:r>
              <a:rPr lang="en-US" sz="2400" dirty="0"/>
              <a:t>Build a culture of proactive security</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400" b="1" dirty="0"/>
              <a:t>Policy Gaps &amp; Improvements:</a:t>
            </a:r>
            <a:endParaRPr lang="en-US" sz="2400" dirty="0"/>
          </a:p>
          <a:p>
            <a:r>
              <a:rPr lang="en-US" sz="2400" dirty="0"/>
              <a:t>No enforcement mechanism for coding standards</a:t>
            </a:r>
          </a:p>
          <a:p>
            <a:r>
              <a:rPr lang="en-US" sz="2400" dirty="0"/>
              <a:t>Limited tracking of third-party dependencies</a:t>
            </a:r>
          </a:p>
          <a:p>
            <a:r>
              <a:rPr lang="en-US" sz="2400" dirty="0"/>
              <a:t>Exception handling lacks audit coverage</a:t>
            </a:r>
          </a:p>
          <a:p>
            <a:r>
              <a:rPr lang="en-US" sz="2400" dirty="0"/>
              <a:t>Future: CI/CD gates, SBOM tracking, exception logs</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20000"/>
          </a:bodyPr>
          <a:lstStyle/>
          <a:p>
            <a:pPr marL="114300" indent="0">
              <a:buNone/>
            </a:pPr>
            <a:r>
              <a:rPr lang="en-US" b="1" dirty="0"/>
              <a:t>APA-Style References:</a:t>
            </a:r>
            <a:endParaRPr lang="en-US" dirty="0"/>
          </a:p>
          <a:p>
            <a:r>
              <a:rPr lang="en-US" dirty="0"/>
              <a:t>National Institute of Standards and Technology. (2022). </a:t>
            </a:r>
            <a:r>
              <a:rPr lang="en-US" i="1" dirty="0"/>
              <a:t>Secure software development framework (SSDF)</a:t>
            </a:r>
            <a:r>
              <a:rPr lang="en-US" dirty="0"/>
              <a:t>. </a:t>
            </a:r>
            <a:r>
              <a:rPr lang="en-US" dirty="0">
                <a:hlinkClick r:id="rId4"/>
              </a:rPr>
              <a:t>https://csrc.nist.gov/pubs/sp/800/218/final</a:t>
            </a:r>
            <a:endParaRPr lang="en-US" dirty="0"/>
          </a:p>
          <a:p>
            <a:r>
              <a:rPr lang="en-US" dirty="0"/>
              <a:t>OWASP Foundation. (2023). </a:t>
            </a:r>
            <a:r>
              <a:rPr lang="en-US" i="1" dirty="0"/>
              <a:t>OWASP Software Assurance Maturity Model (SAMM)</a:t>
            </a:r>
            <a:r>
              <a:rPr lang="en-US" dirty="0"/>
              <a:t>. </a:t>
            </a:r>
            <a:r>
              <a:rPr lang="en-US" dirty="0">
                <a:hlinkClick r:id="rId5"/>
              </a:rPr>
              <a:t>https://owaspsamm.org/model/</a:t>
            </a:r>
            <a:endParaRPr lang="en-US" dirty="0"/>
          </a:p>
          <a:p>
            <a:r>
              <a:rPr lang="en-US" dirty="0"/>
              <a:t>U.S. Department of Homeland Security. (2021). </a:t>
            </a:r>
            <a:r>
              <a:rPr lang="en-US" i="1" dirty="0"/>
              <a:t>Executive Order on Improving the Nation’s Cybersecurity</a:t>
            </a:r>
            <a:r>
              <a:rPr lang="en-US" dirty="0"/>
              <a:t>. </a:t>
            </a:r>
            <a:r>
              <a:rPr lang="en-US" dirty="0">
                <a:hlinkClick r:id="rId6"/>
              </a:rPr>
              <a:t>https://www.cisa.gov/topics/cybersecurity-best-practices/executive-order-improving-nations-cybersecurity</a:t>
            </a:r>
            <a:endParaRPr lang="en-US" dirty="0"/>
          </a:p>
          <a:p>
            <a:r>
              <a:rPr lang="en-US" dirty="0"/>
              <a:t>Pressman, R. S., &amp; Maxim, B. R. (2020). </a:t>
            </a:r>
            <a:r>
              <a:rPr lang="en-US" i="1" dirty="0"/>
              <a:t>Software engineering: A practitioner’s approach</a:t>
            </a:r>
            <a:r>
              <a:rPr lang="en-US" dirty="0"/>
              <a:t> (9th ed.). McGraw-Hill Education. </a:t>
            </a:r>
          </a:p>
          <a:p>
            <a:r>
              <a:rPr lang="en-US" dirty="0"/>
              <a:t>Microsoft Learn. (2023). </a:t>
            </a:r>
            <a:r>
              <a:rPr lang="en-US" i="1" dirty="0"/>
              <a:t>Unit testing in Visual Studio</a:t>
            </a:r>
            <a:r>
              <a:rPr lang="en-US" dirty="0"/>
              <a:t>. </a:t>
            </a:r>
            <a:r>
              <a:rPr lang="en-US" dirty="0">
                <a:hlinkClick r:id="rId7"/>
              </a:rPr>
              <a:t>https://learn.microsoft.com/en-us/visualstudio/test/unit-test-your-code</a:t>
            </a:r>
            <a:endParaRPr lang="en-US" dirty="0"/>
          </a:p>
          <a:p>
            <a:r>
              <a:rPr lang="en-US" dirty="0"/>
              <a:t>OWASP Foundation. (2021). </a:t>
            </a:r>
            <a:r>
              <a:rPr lang="en-US" i="1" dirty="0"/>
              <a:t>Top 10 Web Application Security Risks</a:t>
            </a:r>
            <a:r>
              <a:rPr lang="en-US" dirty="0"/>
              <a:t>. </a:t>
            </a:r>
            <a:r>
              <a:rPr lang="en-US" dirty="0">
                <a:hlinkClick r:id="rId8"/>
              </a:rPr>
              <a:t>https://owasp.org/Top10/2021/</a:t>
            </a:r>
            <a:r>
              <a:rPr lang="en-US" dirty="0"/>
              <a:t>  </a:t>
            </a:r>
          </a:p>
          <a:p>
            <a:pPr marL="0" lvl="0" indent="0" algn="l" rtl="0">
              <a:lnSpc>
                <a:spcPct val="90000"/>
              </a:lnSpc>
              <a:spcBef>
                <a:spcPts val="0"/>
              </a:spcBef>
              <a:spcAft>
                <a:spcPts val="0"/>
              </a:spcAft>
              <a:buClr>
                <a:schemeClr val="lt1"/>
              </a:buClr>
              <a:buSzPts val="2200"/>
              <a:buNone/>
            </a:pPr>
            <a:endParaRPr dirty="0"/>
          </a:p>
        </p:txBody>
      </p:sp>
      <p:pic>
        <p:nvPicPr>
          <p:cNvPr id="239" name="Google Shape;239;p14"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5804</TotalTime>
  <Words>756</Words>
  <Application>Microsoft Office PowerPoint</Application>
  <PresentationFormat>Widescreen</PresentationFormat>
  <Paragraphs>125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Raymond Costa</cp:lastModifiedBy>
  <cp:revision>18</cp:revision>
  <dcterms:created xsi:type="dcterms:W3CDTF">2020-08-19T17:59:24Z</dcterms:created>
  <dcterms:modified xsi:type="dcterms:W3CDTF">2025-12-07T23:32:36Z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